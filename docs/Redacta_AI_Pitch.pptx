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one-liner: everything — detection, redaction, the vault, the audit log — happens on the laptop. Zero bytes leave the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about the 0.831 recall: the misses are names and organisations the zero-shot model overlooks — precision-first is a deliberate policy for a redaction tool, because every flag is human-verifiable with its reason string.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credibility slide. Judges see dozens of 'it works on NPU' claims; this project measured it, found the edge, said so publicly, and designed the product so the answer doesn't depend on the NPU.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D3EE"/>
                </a:solidFill>
                <a:latin typeface="Segoe UI"/>
              </a:rPr>
              <a:t>REDACTA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8FAFC"/>
                </a:solidFill>
                <a:latin typeface="Segoe UI"/>
              </a:rPr>
              <a:t>Your PII never leaves the machine.</a:t>
            </a:r>
          </a:p>
          <a:p>
            <a:r>
              <a:rPr sz="2400" b="0">
                <a:solidFill>
                  <a:srgbClr val="94A3B8"/>
                </a:solidFill>
                <a:latin typeface="Segoe UI"/>
              </a:rPr>
              <a:t>On-device detection &amp; redaction for Indian documents.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394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BBF24"/>
                </a:solidFill>
                <a:latin typeface="Segoe UI"/>
              </a:rPr>
              <a:t>Snapdragon® AI Lab Build &amp; Present Challenge</a:t>
            </a:r>
            <a:r>
              <a:rPr sz="1400" b="0">
                <a:solidFill>
                  <a:srgbClr val="94A3B8"/>
                </a:solidFill>
                <a:latin typeface="Segoe UI"/>
              </a:rPr>
              <a:t>   ·   Sudhanshu Upadhyay   ·   github.com/upadhyayaditya7/redacta-ai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Segoe UI"/>
              </a:rPr>
              <a:t>THE PROBLEM</a:t>
            </a:r>
          </a:p>
          <a:p>
            <a:r>
              <a:rPr sz="3200" b="1">
                <a:solidFill>
                  <a:srgbClr val="F8FAFC"/>
                </a:solidFill>
                <a:latin typeface="Segoe UI"/>
              </a:rPr>
              <a:t>The safest document is the one you never upload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▪  </a:t>
            </a:r>
            <a:r>
              <a:rPr sz="1700" b="1">
                <a:solidFill>
                  <a:srgbClr val="F8FAFC"/>
                </a:solidFill>
                <a:latin typeface="Segoe UI"/>
              </a:rPr>
              <a:t>Cloud redaction is an oxymoron — </a:t>
            </a:r>
            <a:r>
              <a:rPr sz="1700" b="0">
                <a:solidFill>
                  <a:srgbClr val="94A3B8"/>
                </a:solidFill>
                <a:latin typeface="Segoe UI"/>
              </a:rPr>
              <a:t>you send the most sensitive files you own to a third party to make them shareable.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▪  </a:t>
            </a:r>
            <a:r>
              <a:rPr sz="1700" b="1">
                <a:solidFill>
                  <a:srgbClr val="F8FAFC"/>
                </a:solidFill>
                <a:latin typeface="Segoe UI"/>
              </a:rPr>
              <a:t>Global tools miss India. </a:t>
            </a:r>
            <a:r>
              <a:rPr sz="1700" b="0">
                <a:solidFill>
                  <a:srgbClr val="94A3B8"/>
                </a:solidFill>
                <a:latin typeface="Segoe UI"/>
              </a:rPr>
              <a:t>Microsoft Presidio scores F1 0.373 on Indian financial PII — it was never built for Aadhaar, IFSC or UPI.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▪  </a:t>
            </a:r>
            <a:r>
              <a:rPr sz="1700" b="1">
                <a:solidFill>
                  <a:srgbClr val="F8FAFC"/>
                </a:solidFill>
                <a:latin typeface="Segoe UI"/>
              </a:rPr>
              <a:t>Regex alone is not enough. </a:t>
            </a:r>
            <a:r>
              <a:rPr sz="1700" b="0">
                <a:solidFill>
                  <a:srgbClr val="94A3B8"/>
                </a:solidFill>
                <a:latin typeface="Segoe UI"/>
              </a:rPr>
              <a:t>Names, organisations and dates of birth have no pattern — but a 12-digit order ID must not be flagged as an Aadhaar number either.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▪  </a:t>
            </a:r>
            <a:r>
              <a:rPr sz="1700" b="1">
                <a:solidFill>
                  <a:srgbClr val="F8FAFC"/>
                </a:solidFill>
                <a:latin typeface="Segoe UI"/>
              </a:rPr>
              <a:t>Redaction is usually a one-way door. </a:t>
            </a:r>
            <a:r>
              <a:rPr sz="1700" b="0">
                <a:solidFill>
                  <a:srgbClr val="94A3B8"/>
                </a:solidFill>
                <a:latin typeface="Segoe UI"/>
              </a:rPr>
              <a:t>Teams need shareable copies and the original; permanent deletion breaks the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Segoe UI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Segoe UI"/>
              </a:rPr>
              <a:t>THE SOLUTION</a:t>
            </a:r>
          </a:p>
          <a:p>
            <a:r>
              <a:rPr sz="3200" b="1">
                <a:solidFill>
                  <a:srgbClr val="F8FAFC"/>
                </a:solidFill>
                <a:latin typeface="Segoe UI"/>
              </a:rPr>
              <a:t>Drop a document. Get redactions you can undo.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▪  </a:t>
            </a:r>
            <a:r>
              <a:rPr sz="1700" b="1">
                <a:solidFill>
                  <a:srgbClr val="F8FAFC"/>
                </a:solidFill>
                <a:latin typeface="Segoe UI"/>
              </a:rPr>
              <a:t>Detect with proof. </a:t>
            </a:r>
            <a:r>
              <a:rPr sz="1700" b="0">
                <a:solidFill>
                  <a:srgbClr val="94A3B8"/>
                </a:solidFill>
                <a:latin typeface="Segoe UI"/>
              </a:rPr>
              <a:t>Every hit carries a score and a human-readable reason: Verhoeff checksum valid (UIDAI), Luhn valid, PAN holder-type letter valid.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▪  </a:t>
            </a:r>
            <a:r>
              <a:rPr sz="1700" b="1">
                <a:solidFill>
                  <a:srgbClr val="F8FAFC"/>
                </a:solidFill>
                <a:latin typeface="Segoe UI"/>
              </a:rPr>
              <a:t>Redact two ways. </a:t>
            </a:r>
            <a:r>
              <a:rPr sz="1700" b="0">
                <a:solidFill>
                  <a:srgbClr val="94A3B8"/>
                </a:solidFill>
                <a:latin typeface="Segoe UI"/>
              </a:rPr>
              <a:t>Permanent scrub, or reversible «RDCT-…» tokens whose originals sit in a local encrypted vault (PBKDF2-HMAC-SHA256, 200k iterations + HMAC integrity).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▪  </a:t>
            </a:r>
            <a:r>
              <a:rPr sz="1700" b="1">
                <a:solidFill>
                  <a:srgbClr val="F8FAFC"/>
                </a:solidFill>
                <a:latin typeface="Segoe UI"/>
              </a:rPr>
              <a:t>Text, PDF, screenshots. </a:t>
            </a:r>
            <a:r>
              <a:rPr sz="1700" b="0">
                <a:solidFill>
                  <a:srgbClr val="94A3B8"/>
                </a:solidFill>
                <a:latin typeface="Segoe UI"/>
              </a:rPr>
              <a:t>One CLI and one Streamlit UI; batch mode watches a folder and redacts arrivals drop-box style.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▪  </a:t>
            </a:r>
            <a:r>
              <a:rPr sz="1700" b="1">
                <a:solidFill>
                  <a:srgbClr val="F8FAFC"/>
                </a:solidFill>
                <a:latin typeface="Segoe UI"/>
              </a:rPr>
              <a:t>Compliance-safe audit trail. </a:t>
            </a:r>
            <a:r>
              <a:rPr sz="1700" b="0">
                <a:solidFill>
                  <a:srgbClr val="94A3B8"/>
                </a:solidFill>
                <a:latin typeface="Segoe UI"/>
              </a:rPr>
              <a:t>The JSON audit log records what was found and what was done — with hints, never raw values.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Segoe UI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Segoe UI"/>
              </a:rPr>
              <a:t>ARCHITECTURE</a:t>
            </a:r>
          </a:p>
          <a:p>
            <a:r>
              <a:rPr sz="3200" b="1">
                <a:solidFill>
                  <a:srgbClr val="F8FAFC"/>
                </a:solidFill>
                <a:latin typeface="Segoe UI"/>
              </a:rPr>
              <a:t>Two tiers: a deterministic floor, an AI ceiling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7498079" cy="71323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8FAFC"/>
                </a:solidFill>
                <a:latin typeface="Segoe UI"/>
              </a:rPr>
              <a:t>Input   </a:t>
            </a:r>
            <a:r>
              <a:rPr sz="1300" b="0">
                <a:solidFill>
                  <a:srgbClr val="94A3B8"/>
                </a:solidFill>
                <a:latin typeface="Segoe UI"/>
              </a:rPr>
              <a:t>·  text · PDF · screenshot (OCR)</a:t>
            </a:r>
          </a:p>
        </p:txBody>
      </p:sp>
      <p:sp>
        <p:nvSpPr>
          <p:cNvPr id="5" name="Down Arrow 4"/>
          <p:cNvSpPr/>
          <p:nvPr/>
        </p:nvSpPr>
        <p:spPr>
          <a:xfrm>
            <a:off x="4434840" y="2587751"/>
            <a:ext cx="274320" cy="146304"/>
          </a:xfrm>
          <a:prstGeom prst="down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15767"/>
            <a:ext cx="7498079" cy="71323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8FAFC"/>
                </a:solidFill>
                <a:latin typeface="Segoe UI"/>
              </a:rPr>
              <a:t>Tier 1 — Regex + checksums   </a:t>
            </a:r>
            <a:r>
              <a:rPr sz="1300" b="0">
                <a:solidFill>
                  <a:srgbClr val="94A3B8"/>
                </a:solidFill>
                <a:latin typeface="Segoe UI"/>
              </a:rPr>
              <a:t>·  12 rules · Verhoeff / Luhn / IFSC · 0.27 ms</a:t>
            </a:r>
          </a:p>
        </p:txBody>
      </p:sp>
      <p:sp>
        <p:nvSpPr>
          <p:cNvPr id="7" name="Down Arrow 6"/>
          <p:cNvSpPr/>
          <p:nvPr/>
        </p:nvSpPr>
        <p:spPr>
          <a:xfrm>
            <a:off x="4434840" y="3428999"/>
            <a:ext cx="274320" cy="146304"/>
          </a:xfrm>
          <a:prstGeom prst="down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557015"/>
            <a:ext cx="7498079" cy="71323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8FAFC"/>
                </a:solidFill>
                <a:latin typeface="Segoe UI"/>
              </a:rPr>
              <a:t>Tier 2 — GLiNER NER (ONNX)   </a:t>
            </a:r>
            <a:r>
              <a:rPr sz="1300" b="0">
                <a:solidFill>
                  <a:srgbClr val="94A3B8"/>
                </a:solidFill>
                <a:latin typeface="Segoe UI"/>
              </a:rPr>
              <a:t>·  names · orgs · DOBs · 285 ms warm</a:t>
            </a:r>
          </a:p>
        </p:txBody>
      </p:sp>
      <p:sp>
        <p:nvSpPr>
          <p:cNvPr id="9" name="Down Arrow 8"/>
          <p:cNvSpPr/>
          <p:nvPr/>
        </p:nvSpPr>
        <p:spPr>
          <a:xfrm>
            <a:off x="4434840" y="4270247"/>
            <a:ext cx="274320" cy="146304"/>
          </a:xfrm>
          <a:prstGeom prst="down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4398263"/>
            <a:ext cx="7498079" cy="71323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8FAFC"/>
                </a:solidFill>
                <a:latin typeface="Segoe UI"/>
              </a:rPr>
              <a:t>Redaction engine   </a:t>
            </a:r>
            <a:r>
              <a:rPr sz="1300" b="0">
                <a:solidFill>
                  <a:srgbClr val="94A3B8"/>
                </a:solidFill>
                <a:latin typeface="Segoe UI"/>
              </a:rPr>
              <a:t>·  permanent scrub or encrypted vault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434840" y="5111495"/>
            <a:ext cx="274320" cy="146304"/>
          </a:xfrm>
          <a:prstGeom prst="downArrow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5239511"/>
            <a:ext cx="7498079" cy="71323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8FAFC"/>
                </a:solidFill>
                <a:latin typeface="Segoe UI"/>
              </a:rPr>
              <a:t>Audit trail   </a:t>
            </a:r>
            <a:r>
              <a:rPr sz="1300" b="0">
                <a:solidFill>
                  <a:srgbClr val="94A3B8"/>
                </a:solidFill>
                <a:latin typeface="Segoe UI"/>
              </a:rPr>
              <a:t>·  JSON log, hints only — no raw PII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1874519"/>
            <a:ext cx="3017520" cy="4069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2D3EE"/>
                </a:solidFill>
                <a:latin typeface="Segoe UI"/>
              </a:rPr>
              <a:t>Graceful by design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94A3B8"/>
                </a:solidFill>
                <a:latin typeface="Segoe UI"/>
              </a:rPr>
              <a:t>No torch installed? Regex tier still runs.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94A3B8"/>
                </a:solidFill>
                <a:latin typeface="Segoe UI"/>
              </a:rPr>
              <a:t>Model missing? Degrades and says so honestly.</a:t>
            </a:r>
          </a:p>
          <a:p>
            <a:pPr>
              <a:spcBef>
                <a:spcPts val="800"/>
              </a:spcBef>
            </a:pPr>
            <a:r>
              <a:rPr sz="1250" b="0">
                <a:solidFill>
                  <a:srgbClr val="94A3B8"/>
                </a:solidFill>
                <a:latin typeface="Segoe UI"/>
              </a:rPr>
              <a:t>Vault lost the passphrase? That's the point — irreversible to everyone, including 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Segoe UI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Segoe UI"/>
              </a:rPr>
              <a:t>ACCURACY (MEASURED)</a:t>
            </a:r>
          </a:p>
          <a:p>
            <a:r>
              <a:rPr sz="3200" b="1">
                <a:solidFill>
                  <a:srgbClr val="F8FAFC"/>
                </a:solidFill>
                <a:latin typeface="Segoe UI"/>
              </a:rPr>
              <a:t>2.4× Microsoft Presidio on Indian financial PII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920240"/>
          <a:ext cx="105156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343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D3EE"/>
                          </a:solidFill>
                          <a:latin typeface="Segoe UI"/>
                        </a:rPr>
                        <a:t>System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D3EE"/>
                          </a:solidFill>
                          <a:latin typeface="Segoe UI"/>
                        </a:rPr>
                        <a:t>Precision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D3EE"/>
                          </a:solidFill>
                          <a:latin typeface="Segoe UI"/>
                        </a:rPr>
                        <a:t>Recall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D3EE"/>
                          </a:solidFill>
                          <a:latin typeface="Segoe UI"/>
                        </a:rPr>
                        <a:t>F1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AFC"/>
                          </a:solidFill>
                          <a:latin typeface="Segoe UI"/>
                        </a:rPr>
                        <a:t>Redacta Full (regex + GLiNER)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AFC"/>
                          </a:solidFill>
                          <a:latin typeface="Segoe UI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AFC"/>
                          </a:solidFill>
                          <a:latin typeface="Segoe UI"/>
                        </a:rPr>
                        <a:t>0.831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8FAFC"/>
                          </a:solidFill>
                          <a:latin typeface="Segoe UI"/>
                        </a:rPr>
                        <a:t>0.907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94A3B8"/>
                          </a:solidFill>
                          <a:latin typeface="Segoe UI"/>
                        </a:rPr>
                        <a:t>Redacta Regex only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94A3B8"/>
                          </a:solidFill>
                          <a:latin typeface="Segoe UI"/>
                        </a:rPr>
                        <a:t>0.900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94A3B8"/>
                          </a:solidFill>
                          <a:latin typeface="Segoe UI"/>
                        </a:rPr>
                        <a:t>0.692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94A3B8"/>
                          </a:solidFill>
                          <a:latin typeface="Segoe UI"/>
                        </a:rPr>
                        <a:t>0.783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94A3B8"/>
                          </a:solidFill>
                          <a:latin typeface="Segoe UI"/>
                        </a:rPr>
                        <a:t>Microsoft Presidio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94A3B8"/>
                          </a:solidFill>
                          <a:latin typeface="Segoe UI"/>
                        </a:rPr>
                        <a:t>0.975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94A3B8"/>
                          </a:solidFill>
                          <a:latin typeface="Segoe UI"/>
                        </a:rPr>
                        <a:t>0.231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94A3B8"/>
                          </a:solidFill>
                          <a:latin typeface="Segoe UI"/>
                        </a:rPr>
                        <a:t>0.373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11480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1">
                <a:solidFill>
                  <a:srgbClr val="22D3EE"/>
                </a:solidFill>
                <a:latin typeface="Segoe UI"/>
              </a:rPr>
              <a:t>▪  </a:t>
            </a:r>
            <a:r>
              <a:rPr sz="1550" b="1">
                <a:solidFill>
                  <a:srgbClr val="F8FAFC"/>
                </a:solidFill>
                <a:latin typeface="Segoe UI"/>
              </a:rPr>
              <a:t>Zero false positives on the eval set </a:t>
            </a:r>
            <a:r>
              <a:rPr sz="1550" b="0">
                <a:solidFill>
                  <a:srgbClr val="94A3B8"/>
                </a:solidFill>
                <a:latin typeface="Segoe UI"/>
              </a:rPr>
              <a:t>(P = 1.000) — every flagged span explains itself, so a human can verify in seconds.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22D3EE"/>
                </a:solidFill>
                <a:latin typeface="Segoe UI"/>
              </a:rPr>
              <a:t>▪  </a:t>
            </a:r>
            <a:r>
              <a:rPr sz="1550" b="1">
                <a:solidFill>
                  <a:srgbClr val="F8FAFC"/>
                </a:solidFill>
                <a:latin typeface="Segoe UI"/>
              </a:rPr>
              <a:t>Fully reproducible: </a:t>
            </a:r>
            <a:r>
              <a:rPr sz="1550" b="0">
                <a:solidFill>
                  <a:srgbClr val="94A3B8"/>
                </a:solidFill>
                <a:latin typeface="Segoe UI"/>
              </a:rPr>
              <a:t>python tests/test_accuracy.py regenerates the eval on 10 labelled synthetic documents.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Segoe UI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Segoe UI"/>
              </a:rPr>
              <a:t>SNAPDRAGON &amp; QUALCOMM AI HUB</a:t>
            </a:r>
          </a:p>
          <a:p>
            <a:r>
              <a:rPr sz="3200" b="1">
                <a:solidFill>
                  <a:srgbClr val="F8FAFC"/>
                </a:solidFill>
                <a:latin typeface="Segoe UI"/>
              </a:rPr>
              <a:t>Executed on the X Elite HTP — the silicon inside HP OmniBook AI PCs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▪  </a:t>
            </a:r>
            <a:r>
              <a:rPr sz="1700" b="1">
                <a:solidFill>
                  <a:srgbClr val="F8FAFC"/>
                </a:solidFill>
                <a:latin typeface="Segoe UI"/>
              </a:rPr>
              <a:t>Pipeline: </a:t>
            </a:r>
            <a:r>
              <a:rPr sz="1700" b="0">
                <a:solidFill>
                  <a:srgbClr val="94A3B8"/>
                </a:solidFill>
                <a:latin typeface="Segoe UI"/>
              </a:rPr>
              <a:t>GLiNER-PII → ONNX (static shapes) → QNN context binary → Hexagon NPU (Snapdragon X Elite CRD) via AI Hub — the same silicon inside HP OmniBook AI PCs, the challenge's target device class.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▪  </a:t>
            </a:r>
            <a:r>
              <a:rPr sz="1700" b="1">
                <a:solidFill>
                  <a:srgbClr val="F8FAFC"/>
                </a:solidFill>
                <a:latin typeface="Segoe UI"/>
              </a:rPr>
              <a:t>Real jobs, real device: </a:t>
            </a:r>
            <a:r>
              <a:rPr sz="1700" b="0">
                <a:solidFill>
                  <a:srgbClr val="94A3B8"/>
                </a:solidFill>
                <a:latin typeface="Segoe UI"/>
              </a:rPr>
              <a:t>compile jgnz1qovg SUCCESS · on-device inference jp1no1r8g SUCCESS with genuine tokenized input.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▪  </a:t>
            </a:r>
            <a:r>
              <a:rPr sz="1700" b="1">
                <a:solidFill>
                  <a:srgbClr val="F8FAFC"/>
                </a:solidFill>
                <a:latin typeface="Segoe UI"/>
              </a:rPr>
              <a:t>Two upstream fixes contributed: </a:t>
            </a:r>
            <a:r>
              <a:rPr sz="1700" b="0">
                <a:solidFill>
                  <a:srgbClr val="94A3B8"/>
                </a:solidFill>
                <a:latin typeface="Segoe UI"/>
              </a:rPr>
              <a:t>int64 ReduceMax lowered to fp32 casts; span-Einsum rewritten as Transpose+MatMul — proven bitwise-identical (9/9 entities, max diff 0.0).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▪  </a:t>
            </a:r>
            <a:r>
              <a:rPr sz="1700" b="1">
                <a:solidFill>
                  <a:srgbClr val="F8FAFC"/>
                </a:solidFill>
                <a:latin typeface="Segoe UI"/>
              </a:rPr>
              <a:t>On-device load: </a:t>
            </a:r>
            <a:r>
              <a:rPr sz="1700" b="0">
                <a:solidFill>
                  <a:srgbClr val="94A3B8"/>
                </a:solidFill>
                <a:latin typeface="Segoe UI"/>
              </a:rPr>
              <a:t>17.7 s cold → 1.2 s warm on target model mq2651d0n; every step logged by the device runtime.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Segoe UI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Segoe UI"/>
              </a:rPr>
              <a:t>WHAT THE NPU TAUGHT US</a:t>
            </a:r>
          </a:p>
          <a:p>
            <a:r>
              <a:rPr sz="3200" b="1">
                <a:solidFill>
                  <a:srgbClr val="F8FAFC"/>
                </a:solidFill>
                <a:latin typeface="Segoe UI"/>
              </a:rPr>
              <a:t>Honest benchmarks beat optimistic 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33832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2D3EE"/>
                </a:solidFill>
                <a:latin typeface="Segoe UI"/>
              </a:rPr>
              <a:t>0.959</a:t>
            </a:r>
          </a:p>
          <a:p>
            <a:pPr algn="ctr"/>
            <a:r>
              <a:rPr sz="1250" b="0">
                <a:solidFill>
                  <a:srgbClr val="94A3B8"/>
                </a:solidFill>
                <a:latin typeface="Segoe UI"/>
              </a:rPr>
              <a:t>logits cosine, HTP fp16 vs CPU fp32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920240"/>
            <a:ext cx="33832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BBF24"/>
                </a:solidFill>
                <a:latin typeface="Segoe UI"/>
              </a:rPr>
              <a:t>0 / 9</a:t>
            </a:r>
          </a:p>
          <a:p>
            <a:pPr algn="ctr"/>
            <a:r>
              <a:rPr sz="1250" b="0">
                <a:solidFill>
                  <a:srgbClr val="94A3B8"/>
                </a:solidFill>
                <a:latin typeface="Segoe UI"/>
              </a:rPr>
              <a:t>entities surviving fp16 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920240"/>
            <a:ext cx="33832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BBF24"/>
                </a:solidFill>
                <a:latin typeface="Segoe UI"/>
              </a:rPr>
              <a:t>0 / 9</a:t>
            </a:r>
          </a:p>
          <a:p>
            <a:pPr algn="ctr"/>
            <a:r>
              <a:rPr sz="1250" b="0">
                <a:solidFill>
                  <a:srgbClr val="94A3B8"/>
                </a:solidFill>
                <a:latin typeface="Segoe UI"/>
              </a:rPr>
              <a:t>entities surviving naive int8 (CPU)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▪  </a:t>
            </a:r>
            <a:r>
              <a:rPr sz="1500" b="1">
                <a:solidFill>
                  <a:srgbClr val="F8FAFC"/>
                </a:solidFill>
                <a:latin typeface="Segoe UI"/>
              </a:rPr>
              <a:t>The finding: </a:t>
            </a:r>
            <a:r>
              <a:rPr sz="1500" b="0">
                <a:solidFill>
                  <a:srgbClr val="94A3B8"/>
                </a:solidFill>
                <a:latin typeface="Segoe UI"/>
              </a:rPr>
              <a:t>GLiNER's LSTM span-scorer runs on razor-thin logit margins; fp16 accumulation across 4,950 nodes compresses the range (CPU [-68.6, +6.6] → HTP [-15.6, -1.5]) and erases the head.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▪  </a:t>
            </a:r>
            <a:r>
              <a:rPr sz="1500" b="1">
                <a:solidFill>
                  <a:srgbClr val="F8FAFC"/>
                </a:solidFill>
                <a:latin typeface="Segoe UI"/>
              </a:rPr>
              <a:t>The engineering answer: </a:t>
            </a:r>
            <a:r>
              <a:rPr sz="1500" b="0">
                <a:solidFill>
                  <a:srgbClr val="94A3B8"/>
                </a:solidFill>
                <a:latin typeface="Segoe UI"/>
              </a:rPr>
              <a:t>the two-tier design absorbs it — the product ships the CPU AI tier (285 ms) and stays correct; every number is in benchmarks/npu.md §2b with job IDs.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▪  </a:t>
            </a:r>
            <a:r>
              <a:rPr sz="1500" b="1">
                <a:solidFill>
                  <a:srgbClr val="F8FAFC"/>
                </a:solidFill>
                <a:latin typeface="Segoe UI"/>
              </a:rPr>
              <a:t>The roadmap: </a:t>
            </a:r>
            <a:r>
              <a:rPr sz="1500" b="0">
                <a:solidFill>
                  <a:srgbClr val="94A3B8"/>
                </a:solidFill>
                <a:latin typeface="Segoe UI"/>
              </a:rPr>
              <a:t>an NPU-viable span head (DeBERTa-style) and vocabulary pruning (the embedding table is 66% of the artifact) are the two moves queued next.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Segoe U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Segoe UI"/>
              </a:rPr>
              <a:t>DEPLOYMENT &amp; ACCESSIBILITY</a:t>
            </a:r>
          </a:p>
          <a:p>
            <a:r>
              <a:rPr sz="3200" b="1">
                <a:solidFill>
                  <a:srgbClr val="F8FAFC"/>
                </a:solidFill>
                <a:latin typeface="Segoe UI"/>
              </a:rPr>
              <a:t>Runs anywhere a pip install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▪  </a:t>
            </a:r>
            <a:r>
              <a:rPr sz="1700" b="1">
                <a:solidFill>
                  <a:srgbClr val="F8FAFC"/>
                </a:solidFill>
                <a:latin typeface="Segoe UI"/>
              </a:rPr>
              <a:t>Zero special hardware needed to run: </a:t>
            </a:r>
            <a:r>
              <a:rPr sz="1700" b="0">
                <a:solidFill>
                  <a:srgbClr val="94A3B8"/>
                </a:solidFill>
                <a:latin typeface="Segoe UI"/>
              </a:rPr>
              <a:t>CPU-only ONNX Runtime, no torch at inference; the regex tier runs with the AI stack absent entirely.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▪  </a:t>
            </a:r>
            <a:r>
              <a:rPr sz="1700" b="1">
                <a:solidFill>
                  <a:srgbClr val="F8FAFC"/>
                </a:solidFill>
                <a:latin typeface="Segoe UI"/>
              </a:rPr>
              <a:t>Built on a conventional PC, validated on the target: </a:t>
            </a:r>
            <a:r>
              <a:rPr sz="1700" b="0">
                <a:solidFill>
                  <a:srgbClr val="94A3B8"/>
                </a:solidFill>
                <a:latin typeface="Segoe UI"/>
              </a:rPr>
              <a:t>development happened on an Intel machine; NPU validation used AI Hub's cloud Snapdragon X Elite CRD — the exact hardware the challenge targets.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▪  </a:t>
            </a:r>
            <a:r>
              <a:rPr sz="1700" b="1">
                <a:solidFill>
                  <a:srgbClr val="F8FAFC"/>
                </a:solidFill>
                <a:latin typeface="Segoe UI"/>
              </a:rPr>
              <a:t>Two front doors: </a:t>
            </a:r>
            <a:r>
              <a:rPr sz="1700" b="0">
                <a:solidFill>
                  <a:srgbClr val="94A3B8"/>
                </a:solidFill>
                <a:latin typeface="Segoe UI"/>
              </a:rPr>
              <a:t>python app.py … CLI for scripts and batch folders, Streamlit UI with file upload + download buttons for everyone else.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▪  </a:t>
            </a:r>
            <a:r>
              <a:rPr sz="1700" b="1">
                <a:solidFill>
                  <a:srgbClr val="F8FAFC"/>
                </a:solidFill>
                <a:latin typeface="Segoe UI"/>
              </a:rPr>
              <a:t>38 tests, every benchmark reproducible </a:t>
            </a:r>
            <a:r>
              <a:rPr sz="1700" b="0">
                <a:solidFill>
                  <a:srgbClr val="94A3B8"/>
                </a:solidFill>
                <a:latin typeface="Segoe UI"/>
              </a:rPr>
              <a:t>with one command; sample data is synthetic — no real identifiers anywhere.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Segoe U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Segoe UI"/>
              </a:rPr>
              <a:t>ROADMAP</a:t>
            </a:r>
          </a:p>
          <a:p>
            <a:r>
              <a:rPr sz="3200" b="1">
                <a:solidFill>
                  <a:srgbClr val="F8FAFC"/>
                </a:solidFill>
                <a:latin typeface="Segoe UI"/>
              </a:rPr>
              <a:t>Next 90 days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81328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▪  </a:t>
            </a:r>
            <a:r>
              <a:rPr sz="1700" b="1">
                <a:solidFill>
                  <a:srgbClr val="F8FAFC"/>
                </a:solidFill>
                <a:latin typeface="Segoe UI"/>
              </a:rPr>
              <a:t>NPU-viable detector head. </a:t>
            </a:r>
            <a:r>
              <a:rPr sz="1700" b="0">
                <a:solidFill>
                  <a:srgbClr val="94A3B8"/>
                </a:solidFill>
                <a:latin typeface="Segoe UI"/>
              </a:rPr>
              <a:t>Swap the LSTM span-scorer for a DeBERTa-style head that survives fp16, re-export, re-verify on the same AI Hub pipeline.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▪  </a:t>
            </a:r>
            <a:r>
              <a:rPr sz="1700" b="1">
                <a:solidFill>
                  <a:srgbClr val="F8FAFC"/>
                </a:solidFill>
                <a:latin typeface="Segoe UI"/>
              </a:rPr>
              <a:t>Vocabulary pruning. </a:t>
            </a:r>
            <a:r>
              <a:rPr sz="1700" b="0">
                <a:solidFill>
                  <a:srgbClr val="94A3B8"/>
                </a:solidFill>
                <a:latin typeface="Segoe UI"/>
              </a:rPr>
              <a:t>250k multilingual tokens → the subset reachable from Indian financial documents; 1.1 GB artifact → ~400 MB, no accuracy cost on this domain.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▪  </a:t>
            </a:r>
            <a:r>
              <a:rPr sz="1700" b="1">
                <a:solidFill>
                  <a:srgbClr val="F8FAFC"/>
                </a:solidFill>
                <a:latin typeface="Segoe UI"/>
              </a:rPr>
              <a:t>Calibrated quantisation. </a:t>
            </a:r>
            <a:r>
              <a:rPr sz="1700" b="0">
                <a:solidFill>
                  <a:srgbClr val="94A3B8"/>
                </a:solidFill>
                <a:latin typeface="Segoe UI"/>
              </a:rPr>
              <a:t>QNN PTQ with calibration data instead of CPU dynamic int8 — the path npu.md already points to.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▪  </a:t>
            </a:r>
            <a:r>
              <a:rPr sz="1700" b="1">
                <a:solidFill>
                  <a:srgbClr val="F8FAFC"/>
                </a:solidFill>
                <a:latin typeface="Segoe UI"/>
              </a:rPr>
              <a:t>Watch-mode daemon + policy packs. </a:t>
            </a:r>
            <a:r>
              <a:rPr sz="1700" b="0">
                <a:solidFill>
                  <a:srgbClr val="94A3B8"/>
                </a:solidFill>
                <a:latin typeface="Segoe UI"/>
              </a:rPr>
              <a:t>Folder policies per department (finance, HR) with separate vaults.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Segoe U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8FAFC"/>
                </a:solidFill>
                <a:latin typeface="Segoe UI"/>
              </a:rPr>
              <a:t>Nothing leaves the machine.</a:t>
            </a:r>
          </a:p>
          <a:p>
            <a:r>
              <a:rPr sz="2000" b="0">
                <a:solidFill>
                  <a:srgbClr val="94A3B8"/>
                </a:solidFill>
                <a:latin typeface="Segoe UI"/>
              </a:rPr>
              <a:t>Every claim in this deck is a command you can run.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9377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2D3EE"/>
                </a:solidFill>
                <a:latin typeface="Segoe UI"/>
              </a:rPr>
              <a:t>github.com/upadhyayaditya7/redacta-ai</a:t>
            </a:r>
            <a:r>
              <a:rPr sz="1400" b="0">
                <a:solidFill>
                  <a:srgbClr val="94A3B8"/>
                </a:solidFill>
                <a:latin typeface="Segoe UI"/>
              </a:rPr>
              <a:t>   ·   38 tests   ·   benchmarks/npu.md   ·   docs/Redacta_AI_Proposal.pdf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Segoe U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